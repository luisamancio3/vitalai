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468880"/>
            <a:ext cx="1219169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6600" b="1">
                <a:solidFill>
                  <a:srgbClr val="FFFFFF"/>
                </a:solidFill>
                <a:latin typeface="Arial"/>
              </a:rPr>
              <a:t>Vital</a:t>
            </a:r>
            <a:r>
              <a:rPr sz="6600" b="1">
                <a:solidFill>
                  <a:srgbClr val="4FC3F7"/>
                </a:solidFill>
                <a:latin typeface="Arial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888888"/>
                </a:solidFill>
                <a:latin typeface="Arial"/>
              </a:rPr>
              <a:t>The health coach that speaks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Arial"/>
              </a:rPr>
              <a:t>Luis Amancio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4FC3F7"/>
                </a:solidFill>
                <a:latin typeface="Arial"/>
              </a:rPr>
              <a:t>538M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  <a:latin typeface="Arial"/>
              </a:rPr>
              <a:t>wearables shipped in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1945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4FC3F7"/>
                </a:solidFill>
                <a:latin typeface="Arial"/>
              </a:rP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33832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  <a:latin typeface="Arial"/>
              </a:rPr>
              <a:t>of users abandon nutrition
apps within 2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945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4FC3F7"/>
                </a:solidFill>
                <a:latin typeface="Arial"/>
              </a:rPr>
              <a:t>10-15%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3832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  <a:latin typeface="Arial"/>
              </a:rPr>
              <a:t>average retention for health
apps after 30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0292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AAAAA"/>
                </a:solidFill>
                <a:latin typeface="Arial"/>
              </a:rPr>
              <a:t>The data exists. What's missing is someone to turn data into conversation, and conversation into habit.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The Broken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888888"/>
                </a:solidFill>
                <a:latin typeface="Arial"/>
              </a:rPr>
              <a:t>Data generated → User opens app → </a:t>
            </a:r>
            <a:r>
              <a:rPr sz="2200" b="1">
                <a:solidFill>
                  <a:srgbClr val="FF7043"/>
                </a:solidFill>
                <a:latin typeface="Arial"/>
              </a:rPr>
              <a:t>“So what?”</a:t>
            </a:r>
            <a:r>
              <a:rPr sz="2200" b="0">
                <a:solidFill>
                  <a:srgbClr val="888888"/>
                </a:solidFill>
                <a:latin typeface="Arial"/>
              </a:rPr>
              <a:t> → Forgets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CCCCCC"/>
                </a:solidFill>
                <a:latin typeface="Arial"/>
              </a:rPr>
              <a:t>Data generated → </a:t>
            </a:r>
            <a:r>
              <a:rPr sz="2200" b="1">
                <a:solidFill>
                  <a:srgbClr val="4FC3F7"/>
                </a:solidFill>
                <a:latin typeface="Arial"/>
              </a:rPr>
              <a:t>AI detects context</a:t>
            </a:r>
            <a:r>
              <a:rPr sz="2200" b="0">
                <a:solidFill>
                  <a:srgbClr val="CCCCCC"/>
                </a:solidFill>
                <a:latin typeface="Arial"/>
              </a:rPr>
              <a:t> → </a:t>
            </a:r>
            <a:r>
              <a:rPr sz="2200" b="1">
                <a:solidFill>
                  <a:srgbClr val="4FC3F7"/>
                </a:solidFill>
                <a:latin typeface="Arial"/>
              </a:rPr>
              <a:t>Message at the right moment</a:t>
            </a:r>
            <a:r>
              <a:rPr sz="2200" b="0">
                <a:solidFill>
                  <a:srgbClr val="CCCCCC"/>
                </a:solidFill>
                <a:latin typeface="Arial"/>
              </a:rPr>
              <a:t> → </a:t>
            </a:r>
            <a:r>
              <a:rPr sz="2200" b="1">
                <a:solidFill>
                  <a:srgbClr val="66BB6A"/>
                </a:solidFill>
                <a:latin typeface="Arial"/>
              </a:rPr>
              <a:t>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280160" y="2377440"/>
            <a:ext cx="9601200" cy="2103120"/>
          </a:xfrm>
          <a:prstGeom prst="roundRect">
            <a:avLst>
              <a:gd name="adj" fmla="val 4000"/>
            </a:avLst>
          </a:prstGeom>
          <a:solidFill>
            <a:srgbClr val="0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2377440"/>
            <a:ext cx="45720" cy="210312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377440"/>
            <a:ext cx="850392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E0E0E0"/>
                </a:solidFill>
                <a:latin typeface="Arial"/>
              </a:rPr>
              <a:t>“What if your smartwatch could know you so well that it knew when to talk to you, what to say, and how to help — without you ever asking?”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A Day With VitalAI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FC3F7"/>
                </a:solidFill>
                <a:latin typeface="Arial"/>
              </a:rPr>
              <a:t>07:12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463040"/>
            <a:ext cx="9144000" cy="105156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1463040"/>
            <a:ext cx="45720" cy="105156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554480"/>
            <a:ext cx="8686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FC3F7"/>
                </a:solidFill>
                <a:latin typeface="Arial"/>
              </a:rPr>
              <a:t>Detected: you woke up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DDDDD"/>
                </a:solidFill>
                <a:latin typeface="Arial"/>
              </a:rPr>
              <a:t>“Good morning! You slept 6h48m, quality score 72. Your HRV is below normal — suggested breakfast: scrambled eggs with whole wheat toast and fruit.”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FC3F7"/>
                </a:solidFill>
                <a:latin typeface="Arial"/>
              </a:rPr>
              <a:t>12:30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670048"/>
            <a:ext cx="9144000" cy="105156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2670048"/>
            <a:ext cx="45720" cy="105156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761488"/>
            <a:ext cx="8686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FC3F7"/>
                </a:solidFill>
                <a:latin typeface="Arial"/>
              </a:rPr>
              <a:t>Detected: eating gesture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DDDDD"/>
                </a:solidFill>
                <a:latin typeface="Arial"/>
              </a:rPr>
              <a:t>“Eating now?” — 1 tap to confirm. Meal logged.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77056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FC3F7"/>
                </a:solidFill>
                <a:latin typeface="Arial"/>
              </a:rPr>
              <a:t>18:30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3877056"/>
            <a:ext cx="9144000" cy="105156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3877056"/>
            <a:ext cx="45720" cy="105156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968496"/>
            <a:ext cx="8686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FC3F7"/>
                </a:solidFill>
                <a:latin typeface="Arial"/>
              </a:rPr>
              <a:t>Detected: workout ended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DDDDD"/>
                </a:solidFill>
                <a:latin typeface="Arial"/>
              </a:rPr>
              <a:t>“Great workout! 42min, ~380kcal. For recovery: chicken wrap with rice? Takes 15min.”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84064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FC3F7"/>
                </a:solidFill>
                <a:latin typeface="Arial"/>
              </a:rPr>
              <a:t>21:45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5084064"/>
            <a:ext cx="9144000" cy="105156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0" y="5084064"/>
            <a:ext cx="45720" cy="105156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5175504"/>
            <a:ext cx="8686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FC3F7"/>
                </a:solidFill>
                <a:latin typeface="Arial"/>
              </a:rPr>
              <a:t>Detected: elevated stress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DDDDD"/>
                </a:solidFill>
                <a:latin typeface="Arial"/>
              </a:rPr>
              <a:t>“I noticed your stress is elevated. How about 5min of breathing before bed?”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Three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CCCCCC"/>
                </a:solidFill>
                <a:latin typeface="Arial"/>
              </a:rPr>
              <a:t>No competitor delivers all three together: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017520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4FC3F7"/>
                </a:solidFill>
                <a:latin typeface="Arial"/>
              </a:rPr>
              <a:t>1.  </a:t>
            </a:r>
            <a:r>
              <a:rPr sz="2400" b="0">
                <a:solidFill>
                  <a:srgbClr val="FFFFFF"/>
                </a:solidFill>
                <a:latin typeface="Arial"/>
              </a:rPr>
              <a:t>True proactivity via biometrics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794760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4FC3F7"/>
                </a:solidFill>
                <a:latin typeface="Arial"/>
              </a:rPr>
              <a:t>2.  </a:t>
            </a:r>
            <a:r>
              <a:rPr sz="2400" b="0">
                <a:solidFill>
                  <a:srgbClr val="FFFFFF"/>
                </a:solidFill>
                <a:latin typeface="Arial"/>
              </a:rPr>
              <a:t>Automatic meal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572000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4FC3F7"/>
                </a:solidFill>
                <a:latin typeface="Arial"/>
              </a:rPr>
              <a:t>3.  </a:t>
            </a:r>
            <a:r>
              <a:rPr sz="2400" b="0">
                <a:solidFill>
                  <a:srgbClr val="FFFFFF"/>
                </a:solidFill>
                <a:latin typeface="Arial"/>
              </a:rPr>
              <a:t>Nutrition feedback loop that learns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FC3F7"/>
                </a:solidFill>
                <a:latin typeface="Arial"/>
              </a:rPr>
              <a:t>Differentiator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Proactive Coaching via Biometrics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1051559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749039"/>
                <a:gridCol w="3749039"/>
              </a:tblGrid>
              <a:tr h="5181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3F7"/>
                          </a:solidFill>
                          <a:latin typeface="Arial"/>
                        </a:rPr>
                        <a:t>Context detected</a:t>
                      </a:r>
                    </a:p>
                  </a:txBody>
                  <a:tcPr marL="137160" marR="91440" marT="36576" marB="36576" anchor="ctr">
                    <a:solidFill>
                      <a:srgbClr val="122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3F7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L="137160" marR="91440" marT="36576" marB="36576" anchor="ctr">
                    <a:solidFill>
                      <a:srgbClr val="122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3F7"/>
                          </a:solidFill>
                          <a:latin typeface="Arial"/>
                        </a:rPr>
                        <a:t>AI action</a:t>
                      </a:r>
                    </a:p>
                  </a:txBody>
                  <a:tcPr marL="137160" marR="91440" marT="36576" marB="36576" anchor="ctr">
                    <a:solidFill>
                      <a:srgbClr val="12222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Woke up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HR stabilized + movement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Sleep summary + breakfast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Workout ended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HR returned to normal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Recovery meal suggestion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High stress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HRV dropped below baseline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Break / breathing suggestion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Long inactivity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90min+ without movement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Gentle movement reminder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Poor sleep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Low HRV + sleep &lt; 6h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Adjusted suggestions for the day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  <a:latin typeface="Arial"/>
              </a:rPr>
              <a:t>Every competitor (Oura, Fitbit, WHOOP) is reactive — the user has to open the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FC3F7"/>
                </a:solidFill>
                <a:latin typeface="Arial"/>
              </a:rPr>
              <a:t>Differentiator 1 — The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7043"/>
                </a:solidFill>
                <a:latin typeface="Arial"/>
              </a:rPr>
              <a:t>Proactivity is a double-edged sword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10515600" cy="1414272"/>
          </a:xfrm>
          <a:prstGeom prst="roundRect">
            <a:avLst>
              <a:gd name="adj" fmla="val 4000"/>
            </a:avLst>
          </a:prstGeom>
          <a:solidFill>
            <a:srgbClr val="1F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45720" cy="1414272"/>
          </a:xfrm>
          <a:prstGeom prst="rect">
            <a:avLst/>
          </a:prstGeom>
          <a:solidFill>
            <a:srgbClr val="F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84247"/>
            <a:ext cx="9966960" cy="1194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Notification fatigue is the #1 risk.  </a:t>
            </a:r>
            <a:r>
              <a:rPr sz="1400" b="0">
                <a:solidFill>
                  <a:srgbClr val="CCCCCC"/>
                </a:solidFill>
                <a:latin typeface="Arial"/>
              </a:rPr>
              <a:t>If notifications feel irrelevant or too frequent, users disable them and never come back. Calibrating this requires real data from real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53383"/>
            <a:ext cx="10515600" cy="1414272"/>
          </a:xfrm>
          <a:prstGeom prst="roundRect">
            <a:avLst>
              <a:gd name="adj" fmla="val 4000"/>
            </a:avLst>
          </a:prstGeom>
          <a:solidFill>
            <a:srgbClr val="1F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453383"/>
            <a:ext cx="45720" cy="1414272"/>
          </a:xfrm>
          <a:prstGeom prst="rect">
            <a:avLst/>
          </a:prstGeom>
          <a:solidFill>
            <a:srgbClr val="F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3111"/>
            <a:ext cx="9966960" cy="1194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Health thresholds are not universal.  </a:t>
            </a:r>
            <a:r>
              <a:rPr sz="1400" b="0">
                <a:solidFill>
                  <a:srgbClr val="CCCCCC"/>
                </a:solidFill>
                <a:latin typeface="Arial"/>
              </a:rPr>
              <a:t>A resting HR of 55bpm is normal for a runner, alarming for a sedentary person. HRV of 30ms could mean stress or just be someone's baseline. The MVP uses fixed multipliers — it needs to evolve toward individual personalization.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32247"/>
            <a:ext cx="10515600" cy="1414272"/>
          </a:xfrm>
          <a:prstGeom prst="roundRect">
            <a:avLst>
              <a:gd name="adj" fmla="val 4000"/>
            </a:avLst>
          </a:prstGeom>
          <a:solidFill>
            <a:srgbClr val="1F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5032247"/>
            <a:ext cx="45720" cy="1414272"/>
          </a:xfrm>
          <a:prstGeom prst="rect">
            <a:avLst/>
          </a:prstGeom>
          <a:solidFill>
            <a:srgbClr val="F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141975"/>
            <a:ext cx="9966960" cy="1194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Apple controls the platform.  </a:t>
            </a:r>
            <a:r>
              <a:rPr sz="1400" b="0">
                <a:solidFill>
                  <a:srgbClr val="CCCCCC"/>
                </a:solidFill>
                <a:latin typeface="Arial"/>
              </a:rPr>
              <a:t>iOS decides when and how often background monitoring runs. If the user force-closes the app, triggers stop firing. We're building on a platform we don't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FC3F7"/>
                </a:solidFill>
                <a:latin typeface="Arial"/>
              </a:rPr>
              <a:t>Differentiator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Automatic Meal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AAAAA"/>
                </a:solidFill>
                <a:latin typeface="Arial"/>
              </a:rPr>
              <a:t>The end of manual logging — the #1 reason for nutrition app abandonment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074920" cy="201168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45720" cy="20116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526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4FC3F7"/>
                </a:solidFill>
                <a:latin typeface="Arial"/>
              </a:rPr>
              <a:t>Layer 1: Watch Gesture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Arial"/>
              </a:rPr>
              <a:t>Accelerometer + gyroscope detect hand-to-mouth movement. Core ML model runs locally on watch.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7043"/>
                </a:solidFill>
                <a:latin typeface="Arial"/>
              </a:rPr>
              <a:t>Architecture ready, ML model not built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074920" cy="201168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148840"/>
            <a:ext cx="45720" cy="20116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331720"/>
            <a:ext cx="4526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4FC3F7"/>
                </a:solidFill>
                <a:latin typeface="Arial"/>
              </a:rPr>
              <a:t>Layer 2: Quick Photo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Arial"/>
              </a:rPr>
              <a:t>Camera opens with 1 tap. AI identifies food and estimates macros from the photo.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7043"/>
                </a:solidFill>
                <a:latin typeface="Arial"/>
              </a:rPr>
              <a:t>Not started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343400"/>
            <a:ext cx="5074920" cy="201168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343400"/>
            <a:ext cx="45720" cy="20116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26280"/>
            <a:ext cx="4526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4FC3F7"/>
                </a:solidFill>
                <a:latin typeface="Arial"/>
              </a:rPr>
              <a:t>Layer 3: Learned Routine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Arial"/>
              </a:rPr>
              <a:t>After 2-3 weeks, recognizes meals by time + location. “Your usual lunch?” — 1 tap.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7043"/>
                </a:solidFill>
                <a:latin typeface="Arial"/>
              </a:rPr>
              <a:t>Not started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343400"/>
            <a:ext cx="5074920" cy="201168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4343400"/>
            <a:ext cx="45720" cy="20116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526280"/>
            <a:ext cx="4526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4FC3F7"/>
                </a:solidFill>
                <a:latin typeface="Arial"/>
              </a:rPr>
              <a:t>Layer 4: Biometric Inference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Arial"/>
              </a:rPr>
              <a:t>With enough history, AI infers the most likely meal from context alone.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7043"/>
                </a:solidFill>
                <a:latin typeface="Arial"/>
              </a:rPr>
              <a:t>Research phase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FC3F7"/>
                </a:solidFill>
                <a:latin typeface="Arial"/>
              </a:rPr>
              <a:t>Differentiator 2 — The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7043"/>
                </a:solidFill>
                <a:latin typeface="Arial"/>
              </a:rPr>
              <a:t>The hardest technical challenge in the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10515600" cy="1019556"/>
          </a:xfrm>
          <a:prstGeom prst="roundRect">
            <a:avLst>
              <a:gd name="adj" fmla="val 4000"/>
            </a:avLst>
          </a:prstGeom>
          <a:solidFill>
            <a:srgbClr val="1F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45720" cy="1019556"/>
          </a:xfrm>
          <a:prstGeom prst="rect">
            <a:avLst/>
          </a:prstGeom>
          <a:solidFill>
            <a:srgbClr val="F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84247"/>
            <a:ext cx="996696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The ML detection model doesn't exist yet.  </a:t>
            </a:r>
            <a:r>
              <a:rPr sz="1400" b="0">
                <a:solidFill>
                  <a:srgbClr val="CCCCCC"/>
                </a:solidFill>
                <a:latin typeface="Arial"/>
              </a:rPr>
              <a:t>Published research achieves 85% precision / 81% recall in controlled conditions. Real-world will be lower. Training requires real eating data from diverse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58667"/>
            <a:ext cx="10515600" cy="1019556"/>
          </a:xfrm>
          <a:prstGeom prst="roundRect">
            <a:avLst>
              <a:gd name="adj" fmla="val 4000"/>
            </a:avLst>
          </a:prstGeom>
          <a:solidFill>
            <a:srgbClr val="1F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058667"/>
            <a:ext cx="45720" cy="1019556"/>
          </a:xfrm>
          <a:prstGeom prst="rect">
            <a:avLst/>
          </a:prstGeom>
          <a:solidFill>
            <a:srgbClr val="F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68395"/>
            <a:ext cx="996696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Frequent false positives.  </a:t>
            </a:r>
            <a:r>
              <a:rPr sz="1400" b="0">
                <a:solidFill>
                  <a:srgbClr val="CCCCCC"/>
                </a:solidFill>
                <a:latin typeface="Arial"/>
              </a:rPr>
              <a:t>Brushing teeth, drinking water, scratching your face — all involve hand-to-mouth movement. If the watch asks “Eating now?” while brushing teeth, user trust erodes.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42815"/>
            <a:ext cx="10515600" cy="1019556"/>
          </a:xfrm>
          <a:prstGeom prst="roundRect">
            <a:avLst>
              <a:gd name="adj" fmla="val 4000"/>
            </a:avLst>
          </a:prstGeom>
          <a:solidFill>
            <a:srgbClr val="1F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242815"/>
            <a:ext cx="45720" cy="1019556"/>
          </a:xfrm>
          <a:prstGeom prst="rect">
            <a:avLst/>
          </a:prstGeom>
          <a:solidFill>
            <a:srgbClr val="F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352543"/>
            <a:ext cx="996696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Watch battery is a real constraint.  </a:t>
            </a:r>
            <a:r>
              <a:rPr sz="1400" b="0">
                <a:solidFill>
                  <a:srgbClr val="CCCCCC"/>
                </a:solidFill>
                <a:latin typeface="Arial"/>
              </a:rPr>
              <a:t>Continuous accelerometer + gyroscope monitoring on a coin-sized battery. If VitalAI visibly drains battery, users uninstall.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26963"/>
            <a:ext cx="10515600" cy="1019556"/>
          </a:xfrm>
          <a:prstGeom prst="roundRect">
            <a:avLst>
              <a:gd name="adj" fmla="val 4000"/>
            </a:avLst>
          </a:prstGeom>
          <a:solidFill>
            <a:srgbClr val="1F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426963"/>
            <a:ext cx="45720" cy="1019556"/>
          </a:xfrm>
          <a:prstGeom prst="rect">
            <a:avLst/>
          </a:prstGeom>
          <a:solidFill>
            <a:srgbClr val="F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536691"/>
            <a:ext cx="996696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Intentional confirmation.  </a:t>
            </a:r>
            <a:r>
              <a:rPr sz="1400" b="0">
                <a:solidFill>
                  <a:srgbClr val="CCCCCC"/>
                </a:solidFill>
                <a:latin typeface="Arial"/>
              </a:rPr>
              <a:t>We always ask for a 1-tap confirmation. Never “zero friction” — but keeps users conscious of what they eat and ensures data quality.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FC3F7"/>
                </a:solidFill>
                <a:latin typeface="Arial"/>
              </a:rPr>
              <a:t>Differentiator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Nutrition Feedback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CCCCCC"/>
                </a:solidFill>
                <a:latin typeface="Arial"/>
              </a:rPr>
              <a:t>Profile → </a:t>
            </a:r>
            <a:r>
              <a:rPr sz="1900" b="1">
                <a:solidFill>
                  <a:srgbClr val="4FC3F7"/>
                </a:solidFill>
                <a:latin typeface="Arial"/>
              </a:rPr>
              <a:t>Context detected</a:t>
            </a:r>
            <a:r>
              <a:rPr sz="1900" b="0">
                <a:solidFill>
                  <a:srgbClr val="CCCCCC"/>
                </a:solidFill>
                <a:latin typeface="Arial"/>
              </a:rPr>
              <a:t> → Personalized suggestion → </a:t>
            </a:r>
            <a:r>
              <a:rPr sz="1900" b="1">
                <a:solidFill>
                  <a:srgbClr val="4FC3F7"/>
                </a:solidFill>
                <a:latin typeface="Arial"/>
              </a:rPr>
              <a:t>Feedback</a:t>
            </a:r>
            <a:r>
              <a:rPr sz="1900" b="0">
                <a:solidFill>
                  <a:srgbClr val="CCCCCC"/>
                </a:solidFill>
                <a:latin typeface="Arial"/>
              </a:rPr>
              <a:t> → Learning → </a:t>
            </a:r>
            <a:r>
              <a:rPr sz="1900" b="1">
                <a:solidFill>
                  <a:srgbClr val="66BB6A"/>
                </a:solidFill>
                <a:latin typeface="Arial"/>
              </a:rPr>
              <a:t>Better suggestion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AAAAAA"/>
                </a:solidFill>
                <a:latin typeface="Arial"/>
              </a:rPr>
              <a:t>Every rating makes the next suggestion more aligned with the user's real taste.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AAAAA"/>
                </a:solidFill>
                <a:latin typeface="Arial"/>
              </a:rPr>
              <a:t>This creates a </a:t>
            </a:r>
            <a:r>
              <a:rPr sz="1600" b="1">
                <a:solidFill>
                  <a:srgbClr val="4FC3F7"/>
                </a:solidFill>
                <a:latin typeface="Arial"/>
              </a:rPr>
              <a:t>switching cost</a:t>
            </a:r>
            <a:r>
              <a:rPr sz="1600" b="0">
                <a:solidFill>
                  <a:srgbClr val="AAAAAA"/>
                </a:solidFill>
                <a:latin typeface="Arial"/>
              </a:rPr>
              <a:t> — leaving means starting over from scratch.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FC3F7"/>
                </a:solidFill>
                <a:latin typeface="Arial"/>
              </a:rPr>
              <a:t>Differentiator 3 — The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7043"/>
                </a:solidFill>
                <a:latin typeface="Arial"/>
              </a:rPr>
              <a:t>From “simple” to “intelligent” is a big leap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10515600" cy="1414272"/>
          </a:xfrm>
          <a:prstGeom prst="roundRect">
            <a:avLst>
              <a:gd name="adj" fmla="val 4000"/>
            </a:avLst>
          </a:prstGeom>
          <a:solidFill>
            <a:srgbClr val="1F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45720" cy="1414272"/>
          </a:xfrm>
          <a:prstGeom prst="rect">
            <a:avLst/>
          </a:prstGeom>
          <a:solidFill>
            <a:srgbClr val="F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84247"/>
            <a:ext cx="9966960" cy="1194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Current learning is primitive.  </a:t>
            </a:r>
            <a:r>
              <a:rPr sz="1400" b="0">
                <a:solidFill>
                  <a:srgbClr val="CCCCCC"/>
                </a:solidFill>
                <a:latin typeface="Arial"/>
              </a:rPr>
              <a:t>Today, the system only excludes recipes rated ≤ 2 stars. It doesn't understand ingredients, flavors, or contextual patterns. Real personalization requires a recommendation model with ML.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53383"/>
            <a:ext cx="10515600" cy="1414272"/>
          </a:xfrm>
          <a:prstGeom prst="roundRect">
            <a:avLst>
              <a:gd name="adj" fmla="val 4000"/>
            </a:avLst>
          </a:prstGeom>
          <a:solidFill>
            <a:srgbClr val="1F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453383"/>
            <a:ext cx="45720" cy="1414272"/>
          </a:xfrm>
          <a:prstGeom prst="rect">
            <a:avLst/>
          </a:prstGeom>
          <a:solidFill>
            <a:srgbClr val="F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3111"/>
            <a:ext cx="9966960" cy="1194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Cold start problem.  </a:t>
            </a:r>
            <a:r>
              <a:rPr sz="1400" b="0">
                <a:solidFill>
                  <a:srgbClr val="CCCCCC"/>
                </a:solidFill>
                <a:latin typeface="Arial"/>
              </a:rPr>
              <a:t>New users have zero history. The first 2-3 weeks of suggestions are essentially random. If those early suggestions are bad, the user churns before the system gets a chance to learn.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32247"/>
            <a:ext cx="10515600" cy="1414272"/>
          </a:xfrm>
          <a:prstGeom prst="roundRect">
            <a:avLst>
              <a:gd name="adj" fmla="val 4000"/>
            </a:avLst>
          </a:prstGeom>
          <a:solidFill>
            <a:srgbClr val="1F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5032247"/>
            <a:ext cx="45720" cy="1414272"/>
          </a:xfrm>
          <a:prstGeom prst="rect">
            <a:avLst/>
          </a:prstGeom>
          <a:solidFill>
            <a:srgbClr val="F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141975"/>
            <a:ext cx="9966960" cy="1194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Feedback fatigue.  </a:t>
            </a:r>
            <a:r>
              <a:rPr sz="1400" b="0">
                <a:solidFill>
                  <a:srgbClr val="CCCCCC"/>
                </a:solidFill>
                <a:latin typeface="Arial"/>
              </a:rPr>
              <a:t>Asking for a rating after every meal adds friction. Users rate the first few meals enthusiastically, then stop. We need to balance data collection with user experience.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Competitive Landscape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17320"/>
          <a:ext cx="10515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3566160"/>
              </a:tblGrid>
              <a:tr h="441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3F7"/>
                          </a:solidFill>
                          <a:latin typeface="Arial"/>
                        </a:rPr>
                        <a:t>Competitor</a:t>
                      </a:r>
                    </a:p>
                  </a:txBody>
                  <a:tcPr marL="137160" marR="91440" marT="27432" marB="27432" anchor="ctr">
                    <a:solidFill>
                      <a:srgbClr val="122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3F7"/>
                          </a:solidFill>
                          <a:latin typeface="Arial"/>
                        </a:rPr>
                        <a:t>What they do well</a:t>
                      </a:r>
                    </a:p>
                  </a:txBody>
                  <a:tcPr marL="137160" marR="91440" marT="27432" marB="27432" anchor="ctr">
                    <a:solidFill>
                      <a:srgbClr val="122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3F7"/>
                          </a:solidFill>
                          <a:latin typeface="Arial"/>
                        </a:rPr>
                        <a:t>What they lack</a:t>
                      </a:r>
                    </a:p>
                  </a:txBody>
                  <a:tcPr marL="137160" marR="91440" marT="27432" marB="27432" anchor="ctr">
                    <a:solidFill>
                      <a:srgbClr val="12222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Oura Advisor</a:t>
                      </a:r>
                    </a:p>
                  </a:txBody>
                  <a:tcPr marL="137160" marR="91440" marT="27432" marB="27432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LLM + ring data</a:t>
                      </a:r>
                    </a:p>
                  </a:txBody>
                  <a:tcPr marL="137160" marR="91440" marT="27432" marB="27432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Reactive, no nutrition, $300 ring</a:t>
                      </a:r>
                    </a:p>
                  </a:txBody>
                  <a:tcPr marL="137160" marR="91440" marT="27432" marB="27432" anchor="ctr">
                    <a:solidFill>
                      <a:srgbClr val="0A0A0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Fitbit + Gemini</a:t>
                      </a:r>
                    </a:p>
                  </a:txBody>
                  <a:tcPr marL="137160" marR="91440" marT="27432" marB="27432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Google's scale</a:t>
                      </a:r>
                    </a:p>
                  </a:txBody>
                  <a:tcPr marL="137160" marR="91440" marT="27432" marB="27432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In preview, not proactive, no feedback</a:t>
                      </a:r>
                    </a:p>
                  </a:txBody>
                  <a:tcPr marL="137160" marR="91440" marT="27432" marB="27432" anchor="ctr">
                    <a:solidFill>
                      <a:srgbClr val="0A0A0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Apple Health+</a:t>
                      </a:r>
                    </a:p>
                  </a:txBody>
                  <a:tcPr marL="137160" marR="91440" marT="27432" marB="27432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Native ecosystem</a:t>
                      </a:r>
                    </a:p>
                  </a:txBody>
                  <a:tcPr marL="137160" marR="91440" marT="27432" marB="27432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No nutrition, no feedback loop</a:t>
                      </a:r>
                    </a:p>
                  </a:txBody>
                  <a:tcPr marL="137160" marR="91440" marT="27432" marB="27432" anchor="ctr">
                    <a:solidFill>
                      <a:srgbClr val="0A0A0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WHOOP Coach</a:t>
                      </a:r>
                    </a:p>
                  </a:txBody>
                  <a:tcPr marL="137160" marR="91440" marT="27432" marB="27432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Athlete recovery</a:t>
                      </a:r>
                    </a:p>
                  </a:txBody>
                  <a:tcPr marL="137160" marR="91440" marT="27432" marB="27432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Proprietary hardware, no nutrition</a:t>
                      </a:r>
                    </a:p>
                  </a:txBody>
                  <a:tcPr marL="137160" marR="91440" marT="27432" marB="27432" anchor="ctr">
                    <a:solidFill>
                      <a:srgbClr val="0A0A0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3F7"/>
                          </a:solidFill>
                          <a:latin typeface="Arial"/>
                        </a:rPr>
                        <a:t>VitalAI</a:t>
                      </a:r>
                    </a:p>
                  </a:txBody>
                  <a:tcPr marL="137160" marR="91440" marT="27432" marB="27432" anchor="ctr">
                    <a:solidFill>
                      <a:srgbClr val="0A0A0A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3F7"/>
                          </a:solidFill>
                          <a:latin typeface="Arial"/>
                        </a:rPr>
                        <a:t>Proactivity + meal detection + feedback loop</a:t>
                      </a:r>
                    </a:p>
                  </a:txBody>
                  <a:tcPr marL="137160" marR="91440" marT="27432" marB="27432" anchor="ctr">
                    <a:solidFill>
                      <a:srgbClr val="0A0A0A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3F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37160" marR="91440" marT="27432" marB="27432" anchor="ctr"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4343400"/>
            <a:ext cx="10515600" cy="1463040"/>
          </a:xfrm>
          <a:prstGeom prst="roundRect">
            <a:avLst>
              <a:gd name="adj" fmla="val 4000"/>
            </a:avLst>
          </a:prstGeom>
          <a:solidFill>
            <a:srgbClr val="1F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4343400"/>
            <a:ext cx="45720" cy="1463040"/>
          </a:xfrm>
          <a:prstGeom prst="rect">
            <a:avLst/>
          </a:prstGeom>
          <a:solidFill>
            <a:srgbClr val="F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480560"/>
            <a:ext cx="99669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Honest risk:  </a:t>
            </a:r>
            <a:r>
              <a:rPr sz="1400" b="0">
                <a:solidFill>
                  <a:srgbClr val="CCCCCC"/>
                </a:solidFill>
                <a:latin typeface="Arial"/>
              </a:rPr>
              <a:t>If Apple or Google build proactive coaching natively, they have distribution we can never match. Our defense is the nutrition feedback loop and speed of iteration.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4FC3F7"/>
                </a:solidFill>
                <a:latin typeface="Arial"/>
              </a:rPr>
              <a:t>$12.25B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  <a:latin typeface="Arial"/>
              </a:rPr>
              <a:t>Digital health coaching
global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2860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4FC3F7"/>
                </a:solidFill>
                <a:latin typeface="Arial"/>
              </a:rPr>
              <a:t>$1.5B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33832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  <a:latin typeface="Arial"/>
              </a:rPr>
              <a:t>Digital health
Brazil (+18% YoY)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2860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4FC3F7"/>
                </a:solidFill>
                <a:latin typeface="Arial"/>
              </a:rPr>
              <a:t>~23M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3832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  <a:latin typeface="Arial"/>
              </a:rPr>
              <a:t>Estimated target
audience in Brazil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  <a:latin typeface="Arial"/>
              </a:rPr>
              <a:t>Active young professionals (8M) + Executives focused on longevity (3M) + Women with defined fitness goals (12M)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Business Model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40080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3F7"/>
                          </a:solidFill>
                          <a:latin typeface="Arial"/>
                        </a:rPr>
                        <a:t>Plan</a:t>
                      </a:r>
                    </a:p>
                  </a:txBody>
                  <a:tcPr marL="137160" marR="91440" marT="36576" marB="36576" anchor="ctr">
                    <a:solidFill>
                      <a:srgbClr val="122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3F7"/>
                          </a:solidFill>
                          <a:latin typeface="Arial"/>
                        </a:rPr>
                        <a:t>What's included</a:t>
                      </a:r>
                    </a:p>
                  </a:txBody>
                  <a:tcPr marL="137160" marR="91440" marT="36576" marB="36576" anchor="ctr">
                    <a:solidFill>
                      <a:srgbClr val="122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3F7"/>
                          </a:solidFill>
                          <a:latin typeface="Arial"/>
                        </a:rPr>
                        <a:t>Price</a:t>
                      </a:r>
                    </a:p>
                  </a:txBody>
                  <a:tcPr marL="137160" marR="91440" marT="36576" marB="36576" anchor="ctr">
                    <a:solidFill>
                      <a:srgbClr val="1222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Free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Morning message + 2 suggestions/day + basic summary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Free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3F7"/>
                          </a:solidFill>
                          <a:latin typeface="Arial"/>
                        </a:rPr>
                        <a:t>Premium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Full-day coaching + nutrition feedback + weekly report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~$8/mo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Pro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Everything + monthly report + PDF for professionals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CCCCC"/>
                          </a:solidFill>
                          <a:latin typeface="Arial"/>
                        </a:rPr>
                        <a:t>~$16/mo</a:t>
                      </a:r>
                    </a:p>
                  </a:txBody>
                  <a:tcPr marL="137160" marR="91440" marT="36576" marB="36576" anchor="ctr"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3474720"/>
            <a:ext cx="10515600" cy="1280160"/>
          </a:xfrm>
          <a:prstGeom prst="roundRect">
            <a:avLst>
              <a:gd name="adj" fmla="val 4000"/>
            </a:avLst>
          </a:prstGeom>
          <a:solidFill>
            <a:srgbClr val="1F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474720"/>
            <a:ext cx="45720" cy="1280160"/>
          </a:xfrm>
          <a:prstGeom prst="rect">
            <a:avLst/>
          </a:prstGeom>
          <a:solidFill>
            <a:srgbClr val="F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611880"/>
            <a:ext cx="9966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Honest unknown:  </a:t>
            </a:r>
            <a:r>
              <a:rPr sz="1400" b="0">
                <a:solidFill>
                  <a:srgbClr val="CCCCCC"/>
                </a:solidFill>
                <a:latin typeface="Arial"/>
              </a:rPr>
              <a:t>We have no willingness-to-pay data yet. The Free tier may be “good enough” for most users. The weekly report is our best conversion anchor — but needs validation.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Arial"/>
              </a:rPr>
              <a:t>B2B potential:  </a:t>
            </a:r>
            <a:r>
              <a:rPr sz="1400" b="0">
                <a:solidFill>
                  <a:srgbClr val="AAAAAA"/>
                </a:solidFill>
                <a:latin typeface="Arial"/>
              </a:rPr>
              <a:t>Companies offer VitalAI as an employee health benefit — ~$6/employee/month. Could be stronger than B2C.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FC3F7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FC3F7"/>
                </a:solidFill>
                <a:latin typeface="Arial"/>
              </a:rPr>
              <a:t>Regulatory &amp; Privacy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10515600" cy="1414272"/>
          </a:xfrm>
          <a:prstGeom prst="roundRect">
            <a:avLst>
              <a:gd name="adj" fmla="val 4000"/>
            </a:avLst>
          </a:prstGeom>
          <a:solidFill>
            <a:srgbClr val="0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45720" cy="141427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84247"/>
            <a:ext cx="9966960" cy="1194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Arial"/>
              </a:rPr>
              <a:t>Positioning: Wellness, not diagnosis.  </a:t>
            </a:r>
            <a:r>
              <a:rPr sz="1400" b="0">
                <a:solidFill>
                  <a:srgbClr val="CCCCCC"/>
                </a:solidFill>
                <a:latin typeface="Arial"/>
              </a:rPr>
              <a:t>“Your HRV is low, try breathing” = wellness. “Your heart rate suggests arrhythmia risk” = medical claim (regulatory territory). The line gets blurrier as we add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53383"/>
            <a:ext cx="10515600" cy="1414272"/>
          </a:xfrm>
          <a:prstGeom prst="roundRect">
            <a:avLst>
              <a:gd name="adj" fmla="val 4000"/>
            </a:avLst>
          </a:prstGeom>
          <a:solidFill>
            <a:srgbClr val="0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453383"/>
            <a:ext cx="45720" cy="141427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3111"/>
            <a:ext cx="9966960" cy="1194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Arial"/>
              </a:rPr>
              <a:t>Data protection (LGPD/GDPR).  </a:t>
            </a:r>
            <a:r>
              <a:rPr sz="1400" b="0">
                <a:solidFill>
                  <a:srgbClr val="CCCCCC"/>
                </a:solidFill>
                <a:latin typeface="Arial"/>
              </a:rPr>
              <a:t>Health data is “sensitive data.” Explicit consent, right to deletion, portability required. Architecture designed for this — implementation partial, must complete before launch.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32247"/>
            <a:ext cx="10515600" cy="1414272"/>
          </a:xfrm>
          <a:prstGeom prst="roundRect">
            <a:avLst>
              <a:gd name="adj" fmla="val 4000"/>
            </a:avLst>
          </a:prstGeom>
          <a:solidFill>
            <a:srgbClr val="0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5032247"/>
            <a:ext cx="45720" cy="141427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141975"/>
            <a:ext cx="9966960" cy="1194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Arial"/>
              </a:rPr>
              <a:t>Privacy by design.  </a:t>
            </a:r>
            <a:r>
              <a:rPr sz="1400" b="0">
                <a:solidFill>
                  <a:srgbClr val="CCCCCC"/>
                </a:solidFill>
                <a:latin typeface="Arial"/>
              </a:rPr>
              <a:t>On-device processing — raw biometric data never leaves the device. Only classified events are sent to the backend.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Why </a:t>
            </a:r>
            <a:r>
              <a:rPr sz="3400" b="1">
                <a:solidFill>
                  <a:srgbClr val="4FC3F7"/>
                </a:solidFill>
                <a:latin typeface="Arial"/>
              </a:rPr>
              <a:t>Luli</a:t>
            </a:r>
            <a:r>
              <a:rPr sz="3400" b="1">
                <a:solidFill>
                  <a:srgbClr val="FFFFFF"/>
                </a:solidFill>
                <a:latin typeface="Arial"/>
              </a:rPr>
              <a:t> + </a:t>
            </a:r>
            <a:r>
              <a:rPr sz="3400" b="1">
                <a:solidFill>
                  <a:srgbClr val="4FC3F7"/>
                </a:solidFill>
                <a:latin typeface="Arial"/>
              </a:rPr>
              <a:t>VitalAI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737360"/>
            <a:ext cx="4754880" cy="402336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737360"/>
            <a:ext cx="45720" cy="402336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65960"/>
            <a:ext cx="411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4FC3F7"/>
                </a:solidFill>
                <a:latin typeface="Arial"/>
              </a:rPr>
              <a:t>What Luli brings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4FC3F7"/>
                </a:solidFill>
                <a:latin typeface="Arial"/>
              </a:rPr>
              <a:t>•  </a:t>
            </a:r>
            <a:r>
              <a:rPr sz="1400" b="0">
                <a:solidFill>
                  <a:srgbClr val="CCCCCC"/>
                </a:solidFill>
                <a:latin typeface="Arial"/>
              </a:rPr>
              <a:t>Real user base to validate hypotheses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4FC3F7"/>
                </a:solidFill>
                <a:latin typeface="Arial"/>
              </a:rPr>
              <a:t>•  </a:t>
            </a:r>
            <a:r>
              <a:rPr sz="1400" b="0">
                <a:solidFill>
                  <a:srgbClr val="CCCCCC"/>
                </a:solidFill>
                <a:latin typeface="Arial"/>
              </a:rPr>
              <a:t>Brand trust in the fitness market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4FC3F7"/>
                </a:solidFill>
                <a:latin typeface="Arial"/>
              </a:rPr>
              <a:t>•  </a:t>
            </a:r>
            <a:r>
              <a:rPr sz="1400" b="0">
                <a:solidFill>
                  <a:srgbClr val="CCCCCC"/>
                </a:solidFill>
                <a:latin typeface="Arial"/>
              </a:rPr>
              <a:t>Domain expertise — trainers and nutritionists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4FC3F7"/>
                </a:solidFill>
                <a:latin typeface="Arial"/>
              </a:rPr>
              <a:t>•  </a:t>
            </a:r>
            <a:r>
              <a:rPr sz="1400" b="0">
                <a:solidFill>
                  <a:srgbClr val="CCCCCC"/>
                </a:solidFill>
                <a:latin typeface="Arial"/>
              </a:rPr>
              <a:t>Existing distribution channel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4FC3F7"/>
                </a:solidFill>
                <a:latin typeface="Arial"/>
              </a:rPr>
              <a:t>•  </a:t>
            </a:r>
            <a:r>
              <a:rPr sz="1400" b="0">
                <a:solidFill>
                  <a:srgbClr val="CCCCCC"/>
                </a:solidFill>
                <a:latin typeface="Arial"/>
              </a:rPr>
              <a:t>B2B network for corporate partnerships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4754880" cy="402336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737360"/>
            <a:ext cx="45720" cy="402336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65960"/>
            <a:ext cx="411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4FC3F7"/>
                </a:solidFill>
                <a:latin typeface="Arial"/>
              </a:rPr>
              <a:t>What I bring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4FC3F7"/>
                </a:solidFill>
                <a:latin typeface="Arial"/>
              </a:rPr>
              <a:t>•  </a:t>
            </a:r>
            <a:r>
              <a:rPr sz="1400" b="0">
                <a:solidFill>
                  <a:srgbClr val="CCCCCC"/>
                </a:solidFill>
                <a:latin typeface="Arial"/>
              </a:rPr>
              <a:t>A working technical foundation — not slides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4FC3F7"/>
                </a:solidFill>
                <a:latin typeface="Arial"/>
              </a:rPr>
              <a:t>•  </a:t>
            </a:r>
            <a:r>
              <a:rPr sz="1400" b="0">
                <a:solidFill>
                  <a:srgbClr val="CCCCCC"/>
                </a:solidFill>
                <a:latin typeface="Arial"/>
              </a:rPr>
              <a:t>Deep understanding of the hard problems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4FC3F7"/>
                </a:solidFill>
                <a:latin typeface="Arial"/>
              </a:rPr>
              <a:t>•  </a:t>
            </a:r>
            <a:r>
              <a:rPr sz="1400" b="0">
                <a:solidFill>
                  <a:srgbClr val="CCCCCC"/>
                </a:solidFill>
                <a:latin typeface="Arial"/>
              </a:rPr>
              <a:t>Architecture designed for scale and privacy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4FC3F7"/>
                </a:solidFill>
                <a:latin typeface="Arial"/>
              </a:rPr>
              <a:t>•  </a:t>
            </a:r>
            <a:r>
              <a:rPr sz="1400" b="0">
                <a:solidFill>
                  <a:srgbClr val="CCCCCC"/>
                </a:solidFill>
                <a:latin typeface="Arial"/>
              </a:rPr>
              <a:t>Clear-eyed roadmap of what's hard and why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4FC3F7"/>
                </a:solidFill>
                <a:latin typeface="Arial"/>
              </a:rPr>
              <a:t>•  </a:t>
            </a:r>
            <a:r>
              <a:rPr sz="1400" b="0">
                <a:solidFill>
                  <a:srgbClr val="CCCCCC"/>
                </a:solidFill>
                <a:latin typeface="Arial"/>
              </a:rPr>
              <a:t>Proven ability to execute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What's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888888"/>
                </a:solidFill>
                <a:latin typeface="Arial"/>
              </a:rPr>
              <a:t>Not just an idea — a working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4FC3F7"/>
                </a:solidFill>
                <a:latin typeface="Arial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  <a:latin typeface="Arial"/>
              </a:rPr>
              <a:t>MVP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37744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4FC3F7"/>
                </a:solidFill>
                <a:latin typeface="Arial"/>
              </a:rPr>
              <a:t>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2918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  <a:latin typeface="Arial"/>
              </a:rPr>
              <a:t>Alpha (nutrition)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37744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4FC3F7"/>
                </a:solidFill>
                <a:latin typeface="Arial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2918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  <a:latin typeface="Arial"/>
              </a:rPr>
              <a:t>API endpoints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37744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4FC3F7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32918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  <a:latin typeface="Arial"/>
              </a:rPr>
              <a:t>health triggers 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iOS + Apple Watch + Backend (Node.js/TypeScript) + Claude AI + HealthKit + Push Notifications + Nutrition +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Full technical documentation available on request.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I'm not selling a finished product.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DDDDDD"/>
                </a:solidFill>
                <a:latin typeface="Arial"/>
              </a:rPr>
              <a:t>I'm showing a technical foundation, a clear-eyed view of the hard problems, and the conviction that together we can solve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